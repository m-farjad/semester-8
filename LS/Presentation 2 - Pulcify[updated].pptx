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8" r:id="rId7"/>
    <p:sldId id="269" r:id="rId8"/>
    <p:sldId id="270" r:id="rId9"/>
    <p:sldId id="267" r:id="rId10"/>
    <p:sldId id="271" r:id="rId11"/>
    <p:sldId id="272" r:id="rId12"/>
    <p:sldId id="27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70" d="100"/>
          <a:sy n="70" d="100"/>
        </p:scale>
        <p:origin x="34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5/13/2025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5/13/2025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5/13/2025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5/13/2025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5/13/2025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5/13/2025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5/13/2025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5/13/2025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5/13/2025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5/13/2025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5/13/2025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1BA835-12AC-4E8F-955A-EA3F4DE2791F}" type="datetime1">
              <a:rPr lang="en-US" smtClean="0"/>
              <a:t>5/13/2025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57120" y="545465"/>
            <a:ext cx="7145020" cy="2419985"/>
          </a:xfrm>
        </p:spPr>
        <p:txBody>
          <a:bodyPr>
            <a:normAutofit/>
          </a:bodyPr>
          <a:lstStyle/>
          <a:p>
            <a:r>
              <a:rPr lang="en-US" sz="7200" b="1" dirty="0">
                <a:latin typeface="Bahnschrift SemiBold Condensed" panose="020B0502040204020203" pitchFamily="34" charset="0"/>
              </a:rPr>
              <a:t>Pulcify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56992" y="5385367"/>
            <a:ext cx="7076670" cy="826366"/>
          </a:xfrm>
        </p:spPr>
        <p:txBody>
          <a:bodyPr anchor="t">
            <a:normAutofit/>
          </a:bodyPr>
          <a:lstStyle/>
          <a:p>
            <a:r>
              <a:rPr lang="en-US" b="1" dirty="0">
                <a:latin typeface="Bahnschrift SemiBold Condensed" panose="020B0502040204020203" pitchFamily="34" charset="0"/>
              </a:rPr>
              <a:t>Group 07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3488690" y="3138805"/>
            <a:ext cx="5002530" cy="17329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2400" dirty="0">
                <a:latin typeface="Bahnschrift" panose="020B0502040204020203" pitchFamily="34" charset="0"/>
              </a:rPr>
              <a:t>M. Labeeb Tariq       2021-SE-15</a:t>
            </a:r>
          </a:p>
          <a:p>
            <a:pPr algn="ctr"/>
            <a:r>
              <a:rPr lang="en-US" sz="2400" dirty="0">
                <a:latin typeface="Bahnschrift" panose="020B0502040204020203" pitchFamily="34" charset="0"/>
                <a:sym typeface="+mn-ea"/>
              </a:rPr>
              <a:t>Numan Ahmad         2021-SE-24</a:t>
            </a:r>
            <a:endParaRPr lang="en-US" sz="2400" dirty="0">
              <a:latin typeface="Bahnschrift" panose="020B0502040204020203" pitchFamily="34" charset="0"/>
            </a:endParaRPr>
          </a:p>
          <a:p>
            <a:pPr algn="ctr"/>
            <a:r>
              <a:rPr lang="en-US" sz="2400" dirty="0">
                <a:latin typeface="Bahnschrift" panose="020B0502040204020203" pitchFamily="34" charset="0"/>
                <a:sym typeface="+mn-ea"/>
              </a:rPr>
              <a:t>Wali M. Ahmad         2021-SE-39</a:t>
            </a:r>
            <a:endParaRPr lang="en-US" sz="2400" dirty="0">
              <a:latin typeface="Bahnschrift" panose="020B0502040204020203" pitchFamily="34" charset="0"/>
            </a:endParaRPr>
          </a:p>
          <a:p>
            <a:pPr algn="ctr"/>
            <a:r>
              <a:rPr lang="en-US" sz="2400" dirty="0">
                <a:latin typeface="Bahnschrift" panose="020B0502040204020203" pitchFamily="34" charset="0"/>
                <a:sym typeface="+mn-ea"/>
              </a:rPr>
              <a:t>Sameer Ahmad         2021-SE-55</a:t>
            </a:r>
            <a:endParaRPr lang="en-US" sz="2400" dirty="0">
              <a:latin typeface="Bahnschrift" panose="020B0502040204020203" pitchFamily="34" charset="0"/>
            </a:endParaRPr>
          </a:p>
          <a:p>
            <a:pPr algn="ctr"/>
            <a:r>
              <a:rPr lang="en-US" sz="2400" dirty="0">
                <a:latin typeface="Bahnschrift" panose="020B0502040204020203" pitchFamily="34" charset="0"/>
                <a:sym typeface="+mn-ea"/>
              </a:rPr>
              <a:t>M. </a:t>
            </a:r>
            <a:r>
              <a:rPr lang="en-US" sz="2400" dirty="0" err="1">
                <a:latin typeface="Bahnschrift" panose="020B0502040204020203" pitchFamily="34" charset="0"/>
                <a:sym typeface="+mn-ea"/>
              </a:rPr>
              <a:t>Farjad</a:t>
            </a:r>
            <a:r>
              <a:rPr lang="en-US" sz="2400" dirty="0">
                <a:latin typeface="Bahnschrift" panose="020B0502040204020203" pitchFamily="34" charset="0"/>
                <a:sym typeface="+mn-ea"/>
              </a:rPr>
              <a:t> Waseem   2021-SE-56</a:t>
            </a:r>
            <a:endParaRPr lang="en-US" sz="2400" dirty="0">
              <a:latin typeface="Bahnschrift" panose="020B0502040204020203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087" y="559063"/>
            <a:ext cx="3306747" cy="5256025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Bahnschrift SemiBold Condensed" panose="020B0502040204020203" pitchFamily="34" charset="0"/>
                <a:ea typeface="+mj-lt"/>
                <a:cs typeface="+mj-lt"/>
              </a:rP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3022" y="622249"/>
            <a:ext cx="6844892" cy="56397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Bahnschrift" panose="020B0502040204020203" pitchFamily="34" charset="0"/>
                <a:ea typeface="+mn-lt"/>
                <a:cs typeface="+mn-lt"/>
              </a:rPr>
              <a:t>Workforce management relied on </a:t>
            </a:r>
            <a:r>
              <a:rPr lang="en-US" b="1" dirty="0">
                <a:latin typeface="Bahnschrift" panose="020B0502040204020203" pitchFamily="34" charset="0"/>
                <a:ea typeface="+mn-lt"/>
                <a:cs typeface="+mn-lt"/>
              </a:rPr>
              <a:t>spreadsheets, manual timesheets</a:t>
            </a:r>
            <a:r>
              <a:rPr lang="en-US" dirty="0">
                <a:latin typeface="Bahnschrift" panose="020B0502040204020203" pitchFamily="34" charset="0"/>
                <a:ea typeface="+mn-lt"/>
                <a:cs typeface="+mn-lt"/>
              </a:rPr>
              <a:t>, and verbal shift swaps.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b="1" dirty="0">
                <a:latin typeface="Bahnschrift" panose="020B0502040204020203" pitchFamily="34" charset="0"/>
                <a:ea typeface="+mn-lt"/>
                <a:cs typeface="+mn-lt"/>
              </a:rPr>
              <a:t>Time theft, schedule confusion, miscommunication</a:t>
            </a:r>
            <a:r>
              <a:rPr lang="en-US" dirty="0">
                <a:latin typeface="Bahnschrift" panose="020B0502040204020203" pitchFamily="34" charset="0"/>
                <a:ea typeface="+mn-lt"/>
                <a:cs typeface="+mn-lt"/>
              </a:rPr>
              <a:t>, and lack of real-time tracking caused delays and inefficiencies.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Bahnschrift" panose="020B0502040204020203" pitchFamily="34" charset="0"/>
                <a:ea typeface="+mn-lt"/>
                <a:cs typeface="+mn-lt"/>
              </a:rPr>
              <a:t>Managers </a:t>
            </a:r>
            <a:r>
              <a:rPr lang="en-US" b="1" dirty="0">
                <a:latin typeface="Bahnschrift" panose="020B0502040204020203" pitchFamily="34" charset="0"/>
                <a:ea typeface="+mn-lt"/>
                <a:cs typeface="+mn-lt"/>
              </a:rPr>
              <a:t>struggled to ensure fairness, accountability</a:t>
            </a:r>
            <a:r>
              <a:rPr lang="en-US" dirty="0">
                <a:latin typeface="Bahnschrift" panose="020B0502040204020203" pitchFamily="34" charset="0"/>
                <a:ea typeface="+mn-lt"/>
                <a:cs typeface="+mn-lt"/>
              </a:rPr>
              <a:t>, or flexibility in handling workforce dynamics.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087" y="559063"/>
            <a:ext cx="3306747" cy="5256025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Bahnschrift SemiBold Condensed" panose="020B0502040204020203" pitchFamily="34" charset="0"/>
                <a:ea typeface="+mj-lt"/>
                <a:cs typeface="+mj-lt"/>
              </a:rPr>
              <a:t>The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3022" y="622249"/>
            <a:ext cx="6844892" cy="56397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b="1" dirty="0">
                <a:latin typeface="Bahnschrift" panose="020B0502040204020203" pitchFamily="34" charset="0"/>
                <a:ea typeface="+mn-lt"/>
                <a:cs typeface="+mn-lt"/>
              </a:rPr>
              <a:t>Pulcify digitizes and automates</a:t>
            </a:r>
            <a:r>
              <a:rPr lang="en-US" dirty="0">
                <a:latin typeface="Bahnschrift" panose="020B0502040204020203" pitchFamily="34" charset="0"/>
                <a:ea typeface="+mn-lt"/>
                <a:cs typeface="+mn-lt"/>
              </a:rPr>
              <a:t> workforce management with smart scheduling, AI-powered facial recognition, GPS-based attendance, and real-time dashboards.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Bahnschrift" panose="020B0502040204020203" pitchFamily="34" charset="0"/>
                <a:ea typeface="+mn-lt"/>
                <a:cs typeface="+mn-lt"/>
              </a:rPr>
              <a:t>Provides a </a:t>
            </a:r>
            <a:r>
              <a:rPr lang="en-US" b="1" dirty="0">
                <a:latin typeface="Bahnschrift" panose="020B0502040204020203" pitchFamily="34" charset="0"/>
                <a:ea typeface="+mn-lt"/>
                <a:cs typeface="+mn-lt"/>
              </a:rPr>
              <a:t>centralized, intelligent, and transparent platform</a:t>
            </a:r>
            <a:r>
              <a:rPr lang="en-US" dirty="0">
                <a:latin typeface="Bahnschrift" panose="020B0502040204020203" pitchFamily="34" charset="0"/>
                <a:ea typeface="+mn-lt"/>
                <a:cs typeface="+mn-lt"/>
              </a:rPr>
              <a:t> for both managers and employees.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Bahnschrift" panose="020B0502040204020203" pitchFamily="34" charset="0"/>
                <a:ea typeface="+mn-lt"/>
                <a:cs typeface="+mn-lt"/>
              </a:rPr>
              <a:t>Pulcify isn’t just a tool — it’s a </a:t>
            </a:r>
            <a:r>
              <a:rPr lang="en-US" b="1" dirty="0">
                <a:latin typeface="Bahnschrift" panose="020B0502040204020203" pitchFamily="34" charset="0"/>
                <a:ea typeface="+mn-lt"/>
                <a:cs typeface="+mn-lt"/>
              </a:rPr>
              <a:t>cultural shift</a:t>
            </a:r>
            <a:r>
              <a:rPr lang="en-US" dirty="0">
                <a:latin typeface="Bahnschrift" panose="020B0502040204020203" pitchFamily="34" charset="0"/>
                <a:ea typeface="+mn-lt"/>
                <a:cs typeface="+mn-lt"/>
              </a:rPr>
              <a:t> in how teams are led and managed.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087" y="559063"/>
            <a:ext cx="3306747" cy="5256025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Bahnschrift SemiBold Condensed" panose="020B0502040204020203" pitchFamily="34" charset="0"/>
                <a:ea typeface="+mj-lt"/>
                <a:cs typeface="+mj-lt"/>
              </a:rPr>
              <a:t>Vision &amp; Innovation</a:t>
            </a:r>
            <a:endParaRPr lang="en-US" b="1" dirty="0">
              <a:latin typeface="Bahnschrift SemiBold Condensed" panose="020B0502040204020203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3022" y="622249"/>
            <a:ext cx="6844892" cy="56397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GB" dirty="0">
                <a:latin typeface="Bahnschrift" panose="020B0502040204020203" pitchFamily="34" charset="0"/>
              </a:rPr>
              <a:t>Helping teams manage work better with clear, simple, and smart tools that make everything run smoothly.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GB" b="1" dirty="0">
                <a:latin typeface="Bahnschrift" panose="020B0502040204020203" pitchFamily="34" charset="0"/>
              </a:rPr>
              <a:t>Pulcify</a:t>
            </a:r>
            <a:r>
              <a:rPr lang="en-GB" dirty="0">
                <a:latin typeface="Bahnschrift" panose="020B0502040204020203" pitchFamily="34" charset="0"/>
              </a:rPr>
              <a:t> uses AI, face recognition, and GPS check-ins to automate schedules and track attendance accurately.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GB" dirty="0">
                <a:latin typeface="Bahnschrift" panose="020B0502040204020203" pitchFamily="34" charset="0"/>
              </a:rPr>
              <a:t>Unlike older systems like </a:t>
            </a:r>
            <a:r>
              <a:rPr lang="en-GB" b="1" dirty="0">
                <a:latin typeface="Bahnschrift" panose="020B0502040204020203" pitchFamily="34" charset="0"/>
              </a:rPr>
              <a:t>Workday or SAP</a:t>
            </a:r>
            <a:r>
              <a:rPr lang="en-GB" dirty="0">
                <a:latin typeface="Bahnschrift" panose="020B0502040204020203" pitchFamily="34" charset="0"/>
              </a:rPr>
              <a:t>, Pulcify is faster, easier to use, and built for real-time mobile use with smarter features.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087" y="559063"/>
            <a:ext cx="3306747" cy="5256025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Bahnschrift SemiBold Condensed" panose="020B0502040204020203" pitchFamily="34" charset="0"/>
                <a:ea typeface="+mj-lt"/>
                <a:cs typeface="+mj-lt"/>
              </a:rPr>
              <a:t>Leadership Actions</a:t>
            </a:r>
            <a:endParaRPr lang="en-US" b="1" dirty="0">
              <a:latin typeface="Bahnschrift SemiBold Condensed" panose="020B0502040204020203" pitchFamily="34" charset="0"/>
              <a:ea typeface="+mj-lt"/>
              <a:cs typeface="+mj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3022" y="622249"/>
            <a:ext cx="6844892" cy="56397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Bahnschrift" panose="020B0502040204020203" pitchFamily="34" charset="0"/>
                <a:ea typeface="+mn-lt"/>
                <a:cs typeface="+mn-lt"/>
              </a:rPr>
              <a:t>Use transparent tools to build trust and reduce micromanagement.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Bahnschrift" panose="020B0502040204020203" pitchFamily="34" charset="0"/>
                <a:ea typeface="+mn-lt"/>
                <a:cs typeface="+mn-lt"/>
              </a:rPr>
              <a:t>Recognize efforts and ensure fairness in time and task monitoring.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Bahnschrift" panose="020B0502040204020203" pitchFamily="34" charset="0"/>
                <a:ea typeface="+mn-lt"/>
                <a:cs typeface="+mn-lt"/>
              </a:rPr>
              <a:t>Promote accountability through tech without enforcing control.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2EFF50-2D9C-2359-DC92-5348AFD947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DC095-991F-8718-D5B6-D12CA0F106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559063"/>
            <a:ext cx="3392052" cy="5256025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Bahnschrift SemiBold Condensed" panose="020B0502040204020203" pitchFamily="34" charset="0"/>
                <a:ea typeface="+mj-lt"/>
                <a:cs typeface="+mj-lt"/>
              </a:rPr>
              <a:t>Strategy Formulation</a:t>
            </a:r>
            <a:endParaRPr lang="en-US" b="1" dirty="0">
              <a:latin typeface="Bahnschrift SemiBold Condensed" panose="020B0502040204020203" pitchFamily="34" charset="0"/>
              <a:ea typeface="+mj-lt"/>
              <a:cs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3886CD-1993-A80E-2BB4-9A882C3F70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43022" y="622249"/>
            <a:ext cx="6844892" cy="56397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GB" b="1" dirty="0">
                <a:latin typeface="Bahnschrift" panose="020B0502040204020203" pitchFamily="34" charset="0"/>
                <a:ea typeface="+mn-lt"/>
                <a:cs typeface="+mn-lt"/>
              </a:rPr>
              <a:t>Target Early Adopters: </a:t>
            </a:r>
            <a:r>
              <a:rPr lang="en-GB" dirty="0">
                <a:latin typeface="Bahnschrift" panose="020B0502040204020203" pitchFamily="34" charset="0"/>
                <a:ea typeface="+mn-lt"/>
                <a:cs typeface="+mn-lt"/>
              </a:rPr>
              <a:t>Focus on tech-forward companies and hybrid teams for initial rollout.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GB" b="1" dirty="0">
                <a:latin typeface="Bahnschrift" panose="020B0502040204020203" pitchFamily="34" charset="0"/>
                <a:ea typeface="+mn-lt"/>
                <a:cs typeface="+mn-lt"/>
              </a:rPr>
              <a:t>Modular Rollout: </a:t>
            </a:r>
            <a:r>
              <a:rPr lang="en-GB" dirty="0">
                <a:latin typeface="Bahnschrift" panose="020B0502040204020203" pitchFamily="34" charset="0"/>
                <a:ea typeface="+mn-lt"/>
                <a:cs typeface="+mn-lt"/>
              </a:rPr>
              <a:t>Launch in phases—start with scheduling, then add attendance and dashboard features.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GB" b="1" dirty="0">
                <a:latin typeface="Bahnschrift" panose="020B0502040204020203" pitchFamily="34" charset="0"/>
                <a:ea typeface="+mn-lt"/>
                <a:cs typeface="+mn-lt"/>
              </a:rPr>
              <a:t>Partnerships &amp; Integrations: </a:t>
            </a:r>
            <a:r>
              <a:rPr lang="en-GB" dirty="0">
                <a:latin typeface="Bahnschrift" panose="020B0502040204020203" pitchFamily="34" charset="0"/>
                <a:ea typeface="+mn-lt"/>
                <a:cs typeface="+mn-lt"/>
              </a:rPr>
              <a:t>Integrate with HR/payroll tools and partner with SaaS ecosystems.</a:t>
            </a:r>
          </a:p>
        </p:txBody>
      </p:sp>
    </p:spTree>
    <p:extLst>
      <p:ext uri="{BB962C8B-B14F-4D97-AF65-F5344CB8AC3E}">
        <p14:creationId xmlns:p14="http://schemas.microsoft.com/office/powerpoint/2010/main" val="8715730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B86E21-873C-E7BF-E301-E8EC7F87ED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A753A-5C02-1E98-F04C-8CB89DC59E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559063"/>
            <a:ext cx="3392052" cy="5256025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Bahnschrift SemiBold Condensed" panose="020B0502040204020203" pitchFamily="34" charset="0"/>
                <a:ea typeface="+mj-lt"/>
                <a:cs typeface="+mj-lt"/>
              </a:rPr>
              <a:t>Strategy Implementation</a:t>
            </a:r>
            <a:endParaRPr lang="en-US" b="1" dirty="0">
              <a:latin typeface="Bahnschrift SemiBold Condensed" panose="020B0502040204020203" pitchFamily="34" charset="0"/>
              <a:ea typeface="+mj-lt"/>
              <a:cs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1FDEB6-8FC2-317B-BDEF-C235849711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43021" y="470636"/>
            <a:ext cx="6844892" cy="5916728"/>
          </a:xfrm>
        </p:spPr>
        <p:txBody>
          <a:bodyPr vert="horz" lIns="91440" tIns="45720" rIns="91440" bIns="45720" rtlCol="0" anchor="ctr">
            <a:no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GB" sz="2000" b="1" dirty="0">
                <a:latin typeface="Bahnschrift" panose="020B0502040204020203" pitchFamily="34" charset="0"/>
              </a:rPr>
              <a:t>Marketing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GB" sz="1800" b="1" dirty="0">
                <a:latin typeface="Bahnschrift" panose="020B0502040204020203" pitchFamily="34" charset="0"/>
              </a:rPr>
              <a:t>Digital Campaigns: </a:t>
            </a:r>
            <a:r>
              <a:rPr lang="en-GB" sz="1800" dirty="0">
                <a:latin typeface="Bahnschrift" panose="020B0502040204020203" pitchFamily="34" charset="0"/>
              </a:rPr>
              <a:t>Use LinkedIn and targeted email to reach HR and operations leaders.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GB" sz="1800" b="1" dirty="0">
                <a:latin typeface="Bahnschrift" panose="020B0502040204020203" pitchFamily="34" charset="0"/>
              </a:rPr>
              <a:t>Demos:</a:t>
            </a:r>
            <a:r>
              <a:rPr lang="en-GB" sz="1800" dirty="0">
                <a:latin typeface="Bahnschrift" panose="020B0502040204020203" pitchFamily="34" charset="0"/>
              </a:rPr>
              <a:t> Offer live working demos to show real-world use cases.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GB" sz="2000" b="1" dirty="0">
                <a:latin typeface="Bahnschrift" panose="020B0502040204020203" pitchFamily="34" charset="0"/>
              </a:rPr>
              <a:t>Operations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GB" sz="1800" b="1" dirty="0">
                <a:latin typeface="Bahnschrift" panose="020B0502040204020203" pitchFamily="34" charset="0"/>
              </a:rPr>
              <a:t>Pilot Launch</a:t>
            </a:r>
            <a:r>
              <a:rPr lang="en-GB" sz="1800" dirty="0">
                <a:latin typeface="Bahnschrift" panose="020B0502040204020203" pitchFamily="34" charset="0"/>
              </a:rPr>
              <a:t>: Start with 1–2 small to mid-size organizations for feedback and fine-tuning.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GB" sz="1800" b="1" dirty="0">
                <a:latin typeface="Bahnschrift" panose="020B0502040204020203" pitchFamily="34" charset="0"/>
              </a:rPr>
              <a:t>24/7 Support</a:t>
            </a:r>
            <a:r>
              <a:rPr lang="en-GB" sz="1800" dirty="0">
                <a:latin typeface="Bahnschrift" panose="020B0502040204020203" pitchFamily="34" charset="0"/>
              </a:rPr>
              <a:t>: Set up a support team for training, onboarding, and real-time assistance.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GB" sz="1800" b="1" dirty="0">
                <a:latin typeface="Bahnschrift" panose="020B0502040204020203" pitchFamily="34" charset="0"/>
              </a:rPr>
              <a:t>Scalable Infrastructure</a:t>
            </a:r>
            <a:r>
              <a:rPr lang="en-GB" sz="1800" dirty="0">
                <a:latin typeface="Bahnschrift" panose="020B0502040204020203" pitchFamily="34" charset="0"/>
              </a:rPr>
              <a:t>: Host on a cloud platform for easy scaling and reliable performance.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GB" sz="2000" b="1" dirty="0">
                <a:latin typeface="Bahnschrift" panose="020B0502040204020203" pitchFamily="34" charset="0"/>
              </a:rPr>
              <a:t>Budget Allocation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GB" sz="1800" dirty="0">
                <a:latin typeface="Bahnschrift" panose="020B0502040204020203" pitchFamily="34" charset="0"/>
              </a:rPr>
              <a:t>40% Product Development: UI/UX, AI model, web and mobile application development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GB" sz="1800" dirty="0">
                <a:latin typeface="Bahnschrift" panose="020B0502040204020203" pitchFamily="34" charset="0"/>
              </a:rPr>
              <a:t>30% Hosting &amp; Cloud Services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GB" sz="1800" dirty="0">
                <a:latin typeface="Bahnschrift" panose="020B0502040204020203" pitchFamily="34" charset="0"/>
              </a:rPr>
              <a:t>20% Marketing &amp; Customer Acquisition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GB" sz="1800" dirty="0">
                <a:latin typeface="Bahnschrift" panose="020B0502040204020203" pitchFamily="34" charset="0"/>
              </a:rPr>
              <a:t>10% Legal, Compliance, and Miscellaneous Costs</a:t>
            </a:r>
          </a:p>
        </p:txBody>
      </p:sp>
    </p:spTree>
    <p:extLst>
      <p:ext uri="{BB962C8B-B14F-4D97-AF65-F5344CB8AC3E}">
        <p14:creationId xmlns:p14="http://schemas.microsoft.com/office/powerpoint/2010/main" val="4806421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C220AB-05EA-2A81-58AF-421C5CF42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347031CF-3C2D-CF93-0471-A75302C8BC3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60956274"/>
              </p:ext>
            </p:extLst>
          </p:nvPr>
        </p:nvGraphicFramePr>
        <p:xfrm>
          <a:off x="838200" y="1825625"/>
          <a:ext cx="10515597" cy="453348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886339">
                  <a:extLst>
                    <a:ext uri="{9D8B030D-6E8A-4147-A177-3AD203B41FA5}">
                      <a16:colId xmlns:a16="http://schemas.microsoft.com/office/drawing/2014/main" val="1768134312"/>
                    </a:ext>
                  </a:extLst>
                </a:gridCol>
                <a:gridCol w="4627983">
                  <a:extLst>
                    <a:ext uri="{9D8B030D-6E8A-4147-A177-3AD203B41FA5}">
                      <a16:colId xmlns:a16="http://schemas.microsoft.com/office/drawing/2014/main" val="3495708941"/>
                    </a:ext>
                  </a:extLst>
                </a:gridCol>
                <a:gridCol w="4001275">
                  <a:extLst>
                    <a:ext uri="{9D8B030D-6E8A-4147-A177-3AD203B41FA5}">
                      <a16:colId xmlns:a16="http://schemas.microsoft.com/office/drawing/2014/main" val="2940065186"/>
                    </a:ext>
                  </a:extLst>
                </a:gridCol>
              </a:tblGrid>
              <a:tr h="676171">
                <a:tc>
                  <a:txBody>
                    <a:bodyPr/>
                    <a:lstStyle/>
                    <a:p>
                      <a:r>
                        <a:rPr lang="en-GB" dirty="0">
                          <a:latin typeface="Bahnschrift" panose="020B0502040204020203" pitchFamily="34" charset="0"/>
                        </a:rPr>
                        <a:t>Policy Area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  <a:ea typeface="Inter" pitchFamily="34" charset="-122"/>
                          <a:cs typeface="Inter" pitchFamily="34" charset="-120"/>
                        </a:rPr>
                        <a:t>Policy Statement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latin typeface="Bahnschrift" panose="020B0502040204020203" pitchFamily="34" charset="0"/>
                        </a:rPr>
                        <a:t>Strategic Purpose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0261376"/>
                  </a:ext>
                </a:extLst>
              </a:tr>
              <a:tr h="676171">
                <a:tc>
                  <a:txBody>
                    <a:bodyPr/>
                    <a:lstStyle/>
                    <a:p>
                      <a:r>
                        <a:rPr lang="en-GB" b="1" dirty="0">
                          <a:latin typeface="Bahnschrift" panose="020B0502040204020203" pitchFamily="34" charset="0"/>
                        </a:rPr>
                        <a:t>Procurement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>
                          <a:latin typeface="Bahnschrift" panose="020B0502040204020203" pitchFamily="34" charset="0"/>
                        </a:rPr>
                        <a:t>Partner with trusted SaaS/cloud providers and biometric tech vendors.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latin typeface="Bahnschrift" panose="020B0502040204020203" pitchFamily="34" charset="0"/>
                        </a:rPr>
                        <a:t>Ensure system reliability, data security, and scalability.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0942909"/>
                  </a:ext>
                </a:extLst>
              </a:tr>
              <a:tr h="676171">
                <a:tc>
                  <a:txBody>
                    <a:bodyPr/>
                    <a:lstStyle/>
                    <a:p>
                      <a:r>
                        <a:rPr lang="en-GB" b="1" dirty="0">
                          <a:latin typeface="Bahnschrift" panose="020B0502040204020203" pitchFamily="34" charset="0"/>
                        </a:rPr>
                        <a:t>Pricing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latin typeface="Bahnschrift" panose="020B0502040204020203" pitchFamily="34" charset="0"/>
                        </a:rPr>
                        <a:t>Offer subscription-based pay-as-you-grow options.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latin typeface="Bahnschrift" panose="020B0502040204020203" pitchFamily="34" charset="0"/>
                        </a:rPr>
                        <a:t>Make the solution accessible for startups to large organizations.</a:t>
                      </a:r>
                      <a:endParaRPr lang="en-PK" dirty="0">
                        <a:latin typeface="Bahnschrift" panose="020B0502040204020203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1308525"/>
                  </a:ext>
                </a:extLst>
              </a:tr>
              <a:tr h="676171">
                <a:tc>
                  <a:txBody>
                    <a:bodyPr/>
                    <a:lstStyle/>
                    <a:p>
                      <a:r>
                        <a:rPr lang="en-GB" b="1" dirty="0">
                          <a:latin typeface="Bahnschrift" panose="020B0502040204020203" pitchFamily="34" charset="0"/>
                        </a:rPr>
                        <a:t>Quality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>
                          <a:latin typeface="Bahnschrift" panose="020B0502040204020203" pitchFamily="34" charset="0"/>
                        </a:rPr>
                        <a:t>Regular updates, security audits, and user testing built into dev cycle.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latin typeface="Bahnschrift" panose="020B0502040204020203" pitchFamily="34" charset="0"/>
                        </a:rPr>
                        <a:t>Deliver a secure, high-performing, and user-friendly platform.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209698"/>
                  </a:ext>
                </a:extLst>
              </a:tr>
              <a:tr h="676171">
                <a:tc>
                  <a:txBody>
                    <a:bodyPr/>
                    <a:lstStyle/>
                    <a:p>
                      <a:r>
                        <a:rPr lang="en-GB" b="1" dirty="0">
                          <a:latin typeface="Bahnschrift" panose="020B0502040204020203" pitchFamily="34" charset="0"/>
                        </a:rPr>
                        <a:t>Sustainability</a:t>
                      </a:r>
                      <a:endParaRPr lang="en-PK" b="1" dirty="0">
                        <a:latin typeface="Bahnschrift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latin typeface="Bahnschrift" panose="020B0502040204020203" pitchFamily="34" charset="0"/>
                        </a:rPr>
                        <a:t>Minimize paper use and enable remote management to reduce manual labour.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latin typeface="Bahnschrift" panose="020B0502040204020203" pitchFamily="34" charset="0"/>
                        </a:rPr>
                        <a:t>Promote eco-friendly operations and appeal to sustainability-focused clients.</a:t>
                      </a:r>
                      <a:endParaRPr lang="en-PK" dirty="0">
                        <a:latin typeface="Bahnschrift" panose="020B0502040204020203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9822871"/>
                  </a:ext>
                </a:extLst>
              </a:tr>
              <a:tr h="676171">
                <a:tc>
                  <a:txBody>
                    <a:bodyPr/>
                    <a:lstStyle/>
                    <a:p>
                      <a:r>
                        <a:rPr lang="en-GB" b="1" dirty="0">
                          <a:latin typeface="Bahnschrift" panose="020B0502040204020203" pitchFamily="34" charset="0"/>
                        </a:rPr>
                        <a:t> Data Privacy</a:t>
                      </a:r>
                      <a:endParaRPr lang="en-PK" b="1" dirty="0">
                        <a:latin typeface="Bahnschrift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latin typeface="Bahnschrift" panose="020B0502040204020203" pitchFamily="34" charset="0"/>
                        </a:rPr>
                        <a:t>Follow GDPR and local laws for facial and location data and using these service from authentic and reliable service providers.</a:t>
                      </a:r>
                      <a:endParaRPr lang="en-PK" dirty="0">
                        <a:latin typeface="Bahnschrift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latin typeface="Bahnschrift" panose="020B0502040204020203" pitchFamily="34" charset="0"/>
                        </a:rPr>
                        <a:t>Build trust and ensure legal compliance.</a:t>
                      </a:r>
                      <a:endParaRPr lang="en-PK" dirty="0">
                        <a:latin typeface="Bahnschrift" panose="020B0502040204020203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9512572"/>
                  </a:ext>
                </a:extLst>
              </a:tr>
            </a:tbl>
          </a:graphicData>
        </a:graphic>
      </p:graphicFrame>
      <p:sp>
        <p:nvSpPr>
          <p:cNvPr id="9" name="Title 8">
            <a:extLst>
              <a:ext uri="{FF2B5EF4-FFF2-40B4-BE49-F238E27FC236}">
                <a16:creationId xmlns:a16="http://schemas.microsoft.com/office/drawing/2014/main" id="{64E4D8C2-E7B6-C5FA-842C-89653C9E8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rgbClr val="000000"/>
                </a:solidFill>
                <a:latin typeface="Bahnschrift SemiBold Condensed" panose="020B0502040204020203" pitchFamily="34" charset="0"/>
                <a:ea typeface="Petrona Bold" pitchFamily="34" charset="-122"/>
                <a:cs typeface="Petrona Bold" pitchFamily="34" charset="-120"/>
              </a:rPr>
              <a:t>Business Policy Integration</a:t>
            </a:r>
            <a:endParaRPr lang="en-PK" sz="3600" dirty="0">
              <a:latin typeface="Bahnschrift SemiBold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71582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01BE18-3E93-2FAE-8794-BB5662BEC1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F3A3C-DBE5-509B-F5DB-4EDA4EB25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559063"/>
            <a:ext cx="3306747" cy="5256025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Bahnschrift SemiBold Condensed" panose="020B0502040204020203" pitchFamily="34" charset="0"/>
                <a:ea typeface="+mj-lt"/>
                <a:cs typeface="+mj-lt"/>
              </a:rPr>
              <a:t>SWOT Analysis</a:t>
            </a:r>
            <a:endParaRPr lang="en-US" b="1" dirty="0">
              <a:latin typeface="Bahnschrift SemiBold Condensed" panose="020B0502040204020203" pitchFamily="34" charset="0"/>
              <a:ea typeface="+mj-lt"/>
              <a:cs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A6C404-0E2A-4901-6C06-95DBD436F2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43022" y="622249"/>
            <a:ext cx="6945598" cy="56397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Bahnschrift" panose="020B0502040204020203" pitchFamily="34" charset="0"/>
                <a:ea typeface="+mn-lt"/>
                <a:cs typeface="+mn-lt"/>
              </a:rPr>
              <a:t>Strength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800" dirty="0">
                <a:latin typeface="Bahnschrift" panose="020B0502040204020203" pitchFamily="34" charset="0"/>
              </a:rPr>
              <a:t>Using state-of-the-art technologies (AI-powered facial recognition and </a:t>
            </a:r>
            <a:r>
              <a:rPr lang="en-GB" sz="1800" dirty="0">
                <a:latin typeface="Bahnschrift" panose="020B0502040204020203" pitchFamily="34" charset="0"/>
              </a:rPr>
              <a:t>GPS for secure, accurate tracking</a:t>
            </a:r>
            <a:r>
              <a:rPr lang="en-US" sz="1800" dirty="0">
                <a:latin typeface="Bahnschrift" panose="020B0502040204020203" pitchFamily="34" charset="0"/>
              </a:rPr>
              <a:t>).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800" dirty="0">
                <a:latin typeface="Bahnschrift" panose="020B0502040204020203" pitchFamily="34" charset="0"/>
              </a:rPr>
              <a:t>Real-time dashboards &amp; </a:t>
            </a:r>
            <a:r>
              <a:rPr lang="en-GB" sz="1800" dirty="0">
                <a:latin typeface="Bahnschrift" panose="020B0502040204020203" pitchFamily="34" charset="0"/>
              </a:rPr>
              <a:t>for quick and clear workforce oversight.</a:t>
            </a:r>
            <a:endParaRPr lang="en-US" sz="1800" dirty="0">
              <a:latin typeface="Bahnschrift" panose="020B0502040204020203" pitchFamily="34" charset="0"/>
              <a:ea typeface="+mn-lt"/>
              <a:cs typeface="+mn-lt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Bahnschrift" panose="020B0502040204020203" pitchFamily="34" charset="0"/>
                <a:ea typeface="+mn-lt"/>
                <a:cs typeface="+mn-lt"/>
              </a:rPr>
              <a:t>Weakness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GB" sz="1800" dirty="0">
                <a:latin typeface="Bahnschrift" panose="020B0502040204020203" pitchFamily="34" charset="0"/>
                <a:ea typeface="+mn-lt"/>
                <a:cs typeface="+mn-lt"/>
              </a:rPr>
              <a:t>Needs stable internet to work effectively.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GB" sz="1800" dirty="0">
                <a:latin typeface="Bahnschrift" panose="020B0502040204020203" pitchFamily="34" charset="0"/>
                <a:ea typeface="+mn-lt"/>
                <a:cs typeface="+mn-lt"/>
              </a:rPr>
              <a:t>Requires training for first-time or non-tech users.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Bahnschrift" panose="020B0502040204020203" pitchFamily="34" charset="0"/>
                <a:ea typeface="+mn-lt"/>
                <a:cs typeface="+mn-lt"/>
              </a:rPr>
              <a:t>Opportunity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800" dirty="0">
                <a:latin typeface="Bahnschrift" panose="020B0502040204020203" pitchFamily="34" charset="0"/>
              </a:rPr>
              <a:t>Growing trend of remote &amp; hybrid work.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800" dirty="0">
                <a:latin typeface="Bahnschrift" panose="020B0502040204020203" pitchFamily="34" charset="0"/>
              </a:rPr>
              <a:t>Rising demand for automation in workforce management.</a:t>
            </a:r>
            <a:endParaRPr lang="en-US" sz="1800" dirty="0">
              <a:latin typeface="Bahnschrift" panose="020B0502040204020203" pitchFamily="34" charset="0"/>
              <a:ea typeface="+mn-lt"/>
              <a:cs typeface="+mn-lt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Bahnschrift" panose="020B0502040204020203" pitchFamily="34" charset="0"/>
                <a:ea typeface="+mn-lt"/>
                <a:cs typeface="+mn-lt"/>
              </a:rPr>
              <a:t>Threat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GB" sz="1800" dirty="0">
                <a:latin typeface="Bahnschrift" panose="020B0502040204020203" pitchFamily="34" charset="0"/>
              </a:rPr>
              <a:t>Resistance from traditional businesses to adopt new tech.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GB" sz="1800" dirty="0">
                <a:latin typeface="Bahnschrift" panose="020B0502040204020203" pitchFamily="34" charset="0"/>
                <a:ea typeface="+mn-lt"/>
                <a:cs typeface="+mn-lt"/>
              </a:rPr>
              <a:t>Moving from pre-setup manual workflow to new workflow.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GB" sz="1800" dirty="0">
                <a:latin typeface="Bahnschrift" panose="020B0502040204020203" pitchFamily="34" charset="0"/>
                <a:ea typeface="+mn-lt"/>
                <a:cs typeface="+mn-lt"/>
              </a:rPr>
              <a:t>Privacy concerns over data for some people and industries.</a:t>
            </a:r>
            <a:endParaRPr lang="en-US" sz="1800" dirty="0">
              <a:latin typeface="Bahnschrift" panose="020B0502040204020203" pitchFamily="34" charset="0"/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30612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C4AA0B-6CD8-20ED-D7F2-851E1D3F9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04FA7-C311-755D-8731-81F26D6D1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559063"/>
            <a:ext cx="3392052" cy="5256025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Bahnschrift SemiBold Condensed" panose="020B0502040204020203" pitchFamily="34" charset="0"/>
                <a:ea typeface="+mj-lt"/>
                <a:cs typeface="+mj-lt"/>
              </a:rPr>
              <a:t>Challenges &amp; Adaptive Strategies</a:t>
            </a:r>
            <a:endParaRPr lang="en-US" b="1" dirty="0">
              <a:latin typeface="Bahnschrift SemiBold Condensed" panose="020B0502040204020203" pitchFamily="34" charset="0"/>
              <a:ea typeface="+mj-lt"/>
              <a:cs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FBF8DE-1DC5-4B62-436F-654A097F5B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43021" y="277305"/>
            <a:ext cx="6844892" cy="6266066"/>
          </a:xfrm>
        </p:spPr>
        <p:txBody>
          <a:bodyPr vert="horz" lIns="91440" tIns="45720" rIns="91440" bIns="45720" rtlCol="0" anchor="ctr">
            <a:no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GB" sz="1800" b="1" dirty="0">
                <a:latin typeface="Bahnschrift" panose="020B0502040204020203" pitchFamily="34" charset="0"/>
              </a:rPr>
              <a:t>Limited Initial Budget</a:t>
            </a:r>
          </a:p>
          <a:p>
            <a:pPr marL="457200" lvl="1" indent="0">
              <a:buNone/>
            </a:pPr>
            <a:r>
              <a:rPr lang="en-GB" sz="1800" dirty="0">
                <a:latin typeface="Bahnschrift" panose="020B0502040204020203" pitchFamily="34" charset="0"/>
              </a:rPr>
              <a:t>Strategy: Use </a:t>
            </a:r>
            <a:r>
              <a:rPr lang="en-GB" sz="1800" b="1" dirty="0">
                <a:latin typeface="Bahnschrift" panose="020B0502040204020203" pitchFamily="34" charset="0"/>
              </a:rPr>
              <a:t>free-tier</a:t>
            </a:r>
            <a:r>
              <a:rPr lang="en-GB" sz="1800" dirty="0">
                <a:latin typeface="Bahnschrift" panose="020B0502040204020203" pitchFamily="34" charset="0"/>
              </a:rPr>
              <a:t> or trial cloud services during development and pilot. Upgrade only when a client is onboarded or sales begin.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GB" sz="1800" b="1" dirty="0">
                <a:latin typeface="Bahnschrift" panose="020B0502040204020203" pitchFamily="34" charset="0"/>
              </a:rPr>
              <a:t>Tech Resistance in Traditional Workplaces</a:t>
            </a:r>
          </a:p>
          <a:p>
            <a:pPr marL="457200" lvl="1" indent="0">
              <a:buNone/>
            </a:pPr>
            <a:r>
              <a:rPr lang="en-GB" sz="1800" dirty="0">
                <a:latin typeface="Bahnschrift" panose="020B0502040204020203" pitchFamily="34" charset="0"/>
              </a:rPr>
              <a:t>Strategy: Offer </a:t>
            </a:r>
            <a:r>
              <a:rPr lang="en-GB" sz="1800" b="1" dirty="0">
                <a:latin typeface="Bahnschrift" panose="020B0502040204020203" pitchFamily="34" charset="0"/>
              </a:rPr>
              <a:t>live demos </a:t>
            </a:r>
            <a:r>
              <a:rPr lang="en-GB" sz="1800" dirty="0">
                <a:latin typeface="Bahnschrift" panose="020B0502040204020203" pitchFamily="34" charset="0"/>
              </a:rPr>
              <a:t>and trial use to show real-time benefits over manual workflows.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GB" sz="1800" b="1" dirty="0">
                <a:latin typeface="Bahnschrift" panose="020B0502040204020203" pitchFamily="34" charset="0"/>
              </a:rPr>
              <a:t>Onboarding for Non-Tech Users</a:t>
            </a:r>
          </a:p>
          <a:p>
            <a:pPr marL="457200" lvl="1" indent="0">
              <a:buNone/>
            </a:pPr>
            <a:r>
              <a:rPr lang="en-GB" sz="1800" dirty="0">
                <a:latin typeface="Bahnschrift" panose="020B0502040204020203" pitchFamily="34" charset="0"/>
              </a:rPr>
              <a:t>Strategy: Include beginner-friendly UI, </a:t>
            </a:r>
            <a:r>
              <a:rPr lang="en-GB" sz="1800" b="1" dirty="0">
                <a:latin typeface="Bahnschrift" panose="020B0502040204020203" pitchFamily="34" charset="0"/>
              </a:rPr>
              <a:t>guided walkthroughs</a:t>
            </a:r>
            <a:r>
              <a:rPr lang="en-GB" sz="1800" dirty="0">
                <a:latin typeface="Bahnschrift" panose="020B0502040204020203" pitchFamily="34" charset="0"/>
              </a:rPr>
              <a:t>, and free onboarding sessions for clients.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GB" sz="1800" b="1" dirty="0">
                <a:latin typeface="Bahnschrift" panose="020B0502040204020203" pitchFamily="34" charset="0"/>
              </a:rPr>
              <a:t>Competing with Existing Manual Systems</a:t>
            </a:r>
          </a:p>
          <a:p>
            <a:pPr marL="457200" lvl="1" indent="0">
              <a:buNone/>
            </a:pPr>
            <a:r>
              <a:rPr lang="en-GB" sz="1800" dirty="0">
                <a:latin typeface="Bahnschrift" panose="020B0502040204020203" pitchFamily="34" charset="0"/>
              </a:rPr>
              <a:t>Strategy: Highlight measurable ROI—less time theft, re</a:t>
            </a:r>
            <a:r>
              <a:rPr lang="en-GB" sz="1800" b="1" dirty="0">
                <a:latin typeface="Bahnschrift" panose="020B0502040204020203" pitchFamily="34" charset="0"/>
              </a:rPr>
              <a:t>al-time data</a:t>
            </a:r>
            <a:r>
              <a:rPr lang="en-GB" sz="1800" dirty="0">
                <a:latin typeface="Bahnschrift" panose="020B0502040204020203" pitchFamily="34" charset="0"/>
              </a:rPr>
              <a:t>, and reduced manual workload.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GB" sz="1800" b="1" dirty="0">
                <a:latin typeface="Bahnschrift" panose="020B0502040204020203" pitchFamily="34" charset="0"/>
              </a:rPr>
              <a:t>Marketing Focus</a:t>
            </a:r>
          </a:p>
          <a:p>
            <a:pPr marL="457200" lvl="1" indent="0">
              <a:buNone/>
            </a:pPr>
            <a:r>
              <a:rPr lang="en-GB" sz="1800" dirty="0">
                <a:latin typeface="Bahnschrift" panose="020B0502040204020203" pitchFamily="34" charset="0"/>
              </a:rPr>
              <a:t>Strategy: </a:t>
            </a:r>
            <a:r>
              <a:rPr lang="en-GB" sz="1800" b="1" dirty="0">
                <a:latin typeface="Bahnschrift" panose="020B0502040204020203" pitchFamily="34" charset="0"/>
              </a:rPr>
              <a:t>Skip mass marketing</a:t>
            </a:r>
            <a:r>
              <a:rPr lang="en-GB" sz="1800" dirty="0">
                <a:latin typeface="Bahnschrift" panose="020B0502040204020203" pitchFamily="34" charset="0"/>
              </a:rPr>
              <a:t>. Directly target HR heads and operations managers through LinkedIn outreach, referrals, and industry-specific networks.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GB" sz="1800" b="1" dirty="0">
                <a:latin typeface="Bahnschrift" panose="020B0502040204020203" pitchFamily="34" charset="0"/>
              </a:rPr>
              <a:t>Internet Dependency</a:t>
            </a:r>
          </a:p>
          <a:p>
            <a:pPr marL="457200" lvl="1" indent="0">
              <a:buNone/>
            </a:pPr>
            <a:r>
              <a:rPr lang="en-GB" sz="1800" dirty="0">
                <a:latin typeface="Bahnschrift" panose="020B0502040204020203" pitchFamily="34" charset="0"/>
              </a:rPr>
              <a:t>Strategy: Optimize core features for low-bandwidth use and provide </a:t>
            </a:r>
            <a:r>
              <a:rPr lang="en-GB" sz="1800" b="1" dirty="0">
                <a:latin typeface="Bahnschrift" panose="020B0502040204020203" pitchFamily="34" charset="0"/>
              </a:rPr>
              <a:t>offline fallback modes</a:t>
            </a:r>
            <a:r>
              <a:rPr lang="en-GB" sz="1800" dirty="0">
                <a:latin typeface="Bahnschrift" panose="020B0502040204020203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551257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D2E57B-7C5C-51A7-9059-D780078E81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B4D36-67E5-06FD-802B-8B2871A50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559063"/>
            <a:ext cx="3306747" cy="5256025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Bahnschrift SemiBold Condensed" panose="020B0502040204020203" pitchFamily="34" charset="0"/>
                <a:ea typeface="+mj-lt"/>
                <a:cs typeface="+mj-lt"/>
              </a:rPr>
              <a:t>KPIs to Measure Success</a:t>
            </a:r>
            <a:endParaRPr lang="en-US" b="1" dirty="0">
              <a:latin typeface="Bahnschrift SemiBold Condensed" panose="020B0502040204020203" pitchFamily="34" charset="0"/>
              <a:ea typeface="+mj-lt"/>
              <a:cs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B407AE-443D-F35F-4917-D83F2DE8E5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43022" y="622249"/>
            <a:ext cx="6945598" cy="56397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GB" sz="2400" b="1" dirty="0"/>
              <a:t>Adoption &amp; Usage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GB" sz="1800" dirty="0"/>
              <a:t>5-10 Number of client/organizations onboarded in first 6 months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GB" sz="1800" dirty="0"/>
              <a:t>50+ active users per client within first 3 months (based on typical SME teams)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GB" sz="2400" b="1" dirty="0"/>
              <a:t>Operational Efficiency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GB" sz="1800" dirty="0"/>
              <a:t>60%+ reduction in scheduling and attendance errors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GB" sz="1800" dirty="0"/>
              <a:t>4–6 hours saved per manager/week on manual coordination and shift planning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GB" b="1" dirty="0"/>
              <a:t>Engagement &amp; Satisfaction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GB" sz="1800" dirty="0"/>
              <a:t>Simplified view of Real-time data and provided features on-the-go to increase engagement and satisfaction of usage.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GB" sz="1800" dirty="0"/>
              <a:t>80%+ user satisfaction rate (collected via in-app feedback surveys)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GB" sz="2400" b="1" dirty="0"/>
              <a:t>Business Growth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GB" sz="1800" dirty="0"/>
              <a:t>$10K+ Monthly Recurring Revenue (MRR) by end of year one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GB" sz="1800" dirty="0"/>
              <a:t>75%+ client retention rate after 6 months (with proper onboarding and support)</a:t>
            </a:r>
          </a:p>
        </p:txBody>
      </p:sp>
    </p:spTree>
    <p:extLst>
      <p:ext uri="{BB962C8B-B14F-4D97-AF65-F5344CB8AC3E}">
        <p14:creationId xmlns:p14="http://schemas.microsoft.com/office/powerpoint/2010/main" val="24843000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C4C120-DF8E-DD51-160C-2F1F72B59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A833B-028F-EEC9-2906-EA1E9005EA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559063"/>
            <a:ext cx="4203815" cy="5256025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Bahnschrift SemiBold Condensed" panose="020B0502040204020203" pitchFamily="34" charset="0"/>
                <a:ea typeface="+mj-lt"/>
                <a:cs typeface="+mj-lt"/>
              </a:rPr>
              <a:t>Thanks for your patience!</a:t>
            </a:r>
            <a:endParaRPr lang="en-US" b="1" dirty="0">
              <a:latin typeface="Bahnschrift SemiBold Condensed" panose="020B0502040204020203" pitchFamily="34" charset="0"/>
              <a:ea typeface="+mj-lt"/>
              <a:cs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2856400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</TotalTime>
  <Words>873</Words>
  <Application>Microsoft Office PowerPoint</Application>
  <PresentationFormat>Widescreen</PresentationFormat>
  <Paragraphs>100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Bahnschrift</vt:lpstr>
      <vt:lpstr>Bahnschrift SemiBold Condensed</vt:lpstr>
      <vt:lpstr>Calibri</vt:lpstr>
      <vt:lpstr>Calibri Light</vt:lpstr>
      <vt:lpstr>Wingdings</vt:lpstr>
      <vt:lpstr>Office Theme</vt:lpstr>
      <vt:lpstr>Pulcify</vt:lpstr>
      <vt:lpstr>The Problem</vt:lpstr>
      <vt:lpstr>The Solution</vt:lpstr>
      <vt:lpstr>Vision &amp; Innovation</vt:lpstr>
      <vt:lpstr>Leadership Actions</vt:lpstr>
      <vt:lpstr>Strategy Formulation</vt:lpstr>
      <vt:lpstr>Strategy Implementation</vt:lpstr>
      <vt:lpstr>Business Policy Integration</vt:lpstr>
      <vt:lpstr>SWOT Analysis</vt:lpstr>
      <vt:lpstr>Challenges &amp; Adaptive Strategies</vt:lpstr>
      <vt:lpstr>KPIs to Measure Success</vt:lpstr>
      <vt:lpstr>Thanks for your patience!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Pulcify</dc:title>
  <dc:creator/>
  <cp:lastModifiedBy>Farjad Waseem</cp:lastModifiedBy>
  <cp:revision>89</cp:revision>
  <dcterms:created xsi:type="dcterms:W3CDTF">2025-04-23T17:24:00Z</dcterms:created>
  <dcterms:modified xsi:type="dcterms:W3CDTF">2025-05-12T19:04:47Z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04D766B2E36D41F4876B0431CB86EB6B_13</vt:lpwstr>
  </property>
  <property fmtid="{D5CDD505-2E9C-101B-9397-08002B2CF9AE}" pid="3" name="KSOProductBuildVer">
    <vt:lpwstr>1033-12.2.0.20795</vt:lpwstr>
  </property>
</Properties>
</file>